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210 나의동무" panose="02020603020101020101" pitchFamily="18" charset="-127"/>
      <p:regular r:id="rId13"/>
    </p:embeddedFont>
    <p:embeddedFont>
      <p:font typeface="210 디딤명조" panose="02020503020101020101" pitchFamily="18" charset="-127"/>
      <p:regular r:id="rId14"/>
    </p:embeddedFont>
    <p:embeddedFont>
      <p:font typeface="IBM Plex Sans KR" panose="020B0503050203000203" pitchFamily="34" charset="-127"/>
      <p:regular r:id="rId15"/>
    </p:embeddedFont>
    <p:embeddedFont>
      <p:font typeface="Canva Sans Bold" panose="020B0803030501040103" pitchFamily="34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>
        <p:scale>
          <a:sx n="62" d="100"/>
          <a:sy n="62" d="100"/>
        </p:scale>
        <p:origin x="1864" y="7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9594286" cy="10287000"/>
          </a:xfrm>
          <a:custGeom>
            <a:avLst/>
            <a:gdLst/>
            <a:ahLst/>
            <a:cxnLst/>
            <a:rect l="l" t="t" r="r" b="b"/>
            <a:pathLst>
              <a:path w="19594286" h="10287000">
                <a:moveTo>
                  <a:pt x="0" y="0"/>
                </a:moveTo>
                <a:lnTo>
                  <a:pt x="19594286" y="0"/>
                </a:lnTo>
                <a:lnTo>
                  <a:pt x="1959428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altLang="ko-Kore-KR" dirty="0"/>
              <a:t>z</a:t>
            </a:r>
            <a:endParaRPr lang="ko-Kore-KR" alt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914400" y="9486900"/>
            <a:ext cx="2362181" cy="382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7반 P211 김기현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35572" y="-101363"/>
            <a:ext cx="17288171" cy="10388363"/>
          </a:xfrm>
          <a:custGeom>
            <a:avLst/>
            <a:gdLst/>
            <a:ahLst/>
            <a:cxnLst/>
            <a:rect l="l" t="t" r="r" b="b"/>
            <a:pathLst>
              <a:path w="17288171" h="10388363">
                <a:moveTo>
                  <a:pt x="0" y="0"/>
                </a:moveTo>
                <a:lnTo>
                  <a:pt x="17288171" y="0"/>
                </a:lnTo>
                <a:lnTo>
                  <a:pt x="17288171" y="10388363"/>
                </a:lnTo>
                <a:lnTo>
                  <a:pt x="0" y="10388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99" r="-8032"/>
            </a:stretch>
          </a:blipFill>
        </p:spPr>
        <p:txBody>
          <a:bodyPr/>
          <a:lstStyle/>
          <a:p>
            <a:endParaRPr lang="ko-Kore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8117542" y="1418385"/>
            <a:ext cx="8606198" cy="8918339"/>
            <a:chOff x="0" y="0"/>
            <a:chExt cx="11474930" cy="11891119"/>
          </a:xfrm>
        </p:grpSpPr>
        <p:sp>
          <p:nvSpPr>
            <p:cNvPr id="4" name="Freeform 4"/>
            <p:cNvSpPr/>
            <p:nvPr/>
          </p:nvSpPr>
          <p:spPr>
            <a:xfrm rot="138000">
              <a:off x="-233984" y="-225465"/>
              <a:ext cx="11942898" cy="12342049"/>
            </a:xfrm>
            <a:custGeom>
              <a:avLst/>
              <a:gdLst/>
              <a:ahLst/>
              <a:cxnLst/>
              <a:rect l="l" t="t" r="r" b="b"/>
              <a:pathLst>
                <a:path w="11942898" h="12342049">
                  <a:moveTo>
                    <a:pt x="0" y="460510"/>
                  </a:moveTo>
                  <a:lnTo>
                    <a:pt x="11465686" y="0"/>
                  </a:lnTo>
                  <a:lnTo>
                    <a:pt x="11942898" y="11881540"/>
                  </a:lnTo>
                  <a:lnTo>
                    <a:pt x="477212" y="12342049"/>
                  </a:lnTo>
                  <a:lnTo>
                    <a:pt x="0" y="460510"/>
                  </a:lnTo>
                  <a:close/>
                </a:path>
              </a:pathLst>
            </a:custGeom>
            <a:blipFill>
              <a:blip r:embed="rId3"/>
              <a:stretch>
                <a:fillRect l="-4987" t="-216" r="-396" b="-5458"/>
              </a:stretch>
            </a:blip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8549499" y="10353761"/>
              <a:ext cx="1572451" cy="1403974"/>
            </a:xfrm>
            <a:custGeom>
              <a:avLst/>
              <a:gdLst/>
              <a:ahLst/>
              <a:cxnLst/>
              <a:rect l="l" t="t" r="r" b="b"/>
              <a:pathLst>
                <a:path w="1572451" h="1403974">
                  <a:moveTo>
                    <a:pt x="0" y="0"/>
                  </a:moveTo>
                  <a:lnTo>
                    <a:pt x="1572451" y="0"/>
                  </a:lnTo>
                  <a:lnTo>
                    <a:pt x="1572451" y="1403974"/>
                  </a:lnTo>
                  <a:lnTo>
                    <a:pt x="0" y="1403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ko-Kore-KR" altLang="en-US"/>
            </a:p>
          </p:txBody>
        </p:sp>
      </p:grpSp>
      <p:sp>
        <p:nvSpPr>
          <p:cNvPr id="6" name="Freeform 6"/>
          <p:cNvSpPr/>
          <p:nvPr/>
        </p:nvSpPr>
        <p:spPr>
          <a:xfrm rot="780698">
            <a:off x="1477968" y="2399174"/>
            <a:ext cx="1041362" cy="749781"/>
          </a:xfrm>
          <a:custGeom>
            <a:avLst/>
            <a:gdLst/>
            <a:ahLst/>
            <a:cxnLst/>
            <a:rect l="l" t="t" r="r" b="b"/>
            <a:pathLst>
              <a:path w="1041362" h="749781">
                <a:moveTo>
                  <a:pt x="0" y="0"/>
                </a:moveTo>
                <a:lnTo>
                  <a:pt x="1041362" y="0"/>
                </a:lnTo>
                <a:lnTo>
                  <a:pt x="1041362" y="749781"/>
                </a:lnTo>
                <a:lnTo>
                  <a:pt x="0" y="7497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494828" y="162517"/>
            <a:ext cx="5905557" cy="1847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34"/>
              </a:lnSpc>
            </a:pPr>
            <a:r>
              <a:rPr lang="en-US" sz="10739">
                <a:solidFill>
                  <a:srgbClr val="000000"/>
                </a:solidFill>
                <a:latin typeface="210 나의동무"/>
                <a:ea typeface="210 나의동무"/>
                <a:cs typeface="210 나의동무"/>
                <a:sym typeface="210 나의동무"/>
              </a:rPr>
              <a:t>옛날 옛적에...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4828" y="8521691"/>
            <a:ext cx="5385060" cy="151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08"/>
              </a:lnSpc>
            </a:pPr>
            <a:r>
              <a:rPr lang="en-US" sz="4363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눈부시고 아름다운 도시 </a:t>
            </a:r>
          </a:p>
          <a:p>
            <a:pPr algn="ctr">
              <a:lnSpc>
                <a:spcPts val="6108"/>
              </a:lnSpc>
              <a:spcBef>
                <a:spcPct val="0"/>
              </a:spcBef>
            </a:pPr>
            <a:r>
              <a:rPr lang="en-US" sz="4363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대한민국 전주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758543" y="8753673"/>
            <a:ext cx="3529457" cy="1287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657" dirty="0" err="1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김XX</a:t>
            </a:r>
            <a:r>
              <a:rPr lang="en-US" sz="3657" dirty="0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 (</a:t>
            </a:r>
            <a:r>
              <a:rPr lang="en-US" sz="3657" dirty="0" err="1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만</a:t>
            </a:r>
            <a:r>
              <a:rPr lang="en-US" sz="3657" dirty="0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 25세)</a:t>
            </a:r>
          </a:p>
          <a:p>
            <a:pPr algn="ctr">
              <a:lnSpc>
                <a:spcPts val="5120"/>
              </a:lnSpc>
              <a:spcBef>
                <a:spcPct val="0"/>
              </a:spcBef>
            </a:pPr>
            <a:r>
              <a:rPr lang="en-US" sz="3657" dirty="0" err="1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전주</a:t>
            </a:r>
            <a:r>
              <a:rPr lang="en-US" sz="3657" dirty="0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 </a:t>
            </a:r>
            <a:r>
              <a:rPr lang="en-US" sz="3657" dirty="0" err="1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거주</a:t>
            </a:r>
            <a:r>
              <a:rPr lang="en-US" sz="3657" dirty="0">
                <a:solidFill>
                  <a:srgbClr val="000000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 25년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37651" y="-168130"/>
            <a:ext cx="13745194" cy="11517300"/>
          </a:xfrm>
          <a:custGeom>
            <a:avLst/>
            <a:gdLst/>
            <a:ahLst/>
            <a:cxnLst/>
            <a:rect l="l" t="t" r="r" b="b"/>
            <a:pathLst>
              <a:path w="13745194" h="11517300">
                <a:moveTo>
                  <a:pt x="0" y="0"/>
                </a:moveTo>
                <a:lnTo>
                  <a:pt x="13745195" y="0"/>
                </a:lnTo>
                <a:lnTo>
                  <a:pt x="13745195" y="11517300"/>
                </a:lnTo>
                <a:lnTo>
                  <a:pt x="0" y="11517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4530">
            <a:off x="-630544" y="-46478"/>
            <a:ext cx="8598764" cy="6606836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2386521" y="3373209"/>
            <a:ext cx="5266365" cy="7068946"/>
          </a:xfrm>
          <a:custGeom>
            <a:avLst/>
            <a:gdLst/>
            <a:ahLst/>
            <a:cxnLst/>
            <a:rect l="l" t="t" r="r" b="b"/>
            <a:pathLst>
              <a:path w="5266365" h="7068946">
                <a:moveTo>
                  <a:pt x="0" y="0"/>
                </a:moveTo>
                <a:lnTo>
                  <a:pt x="5266364" y="0"/>
                </a:lnTo>
                <a:lnTo>
                  <a:pt x="5266364" y="7068946"/>
                </a:lnTo>
                <a:lnTo>
                  <a:pt x="0" y="7068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441019">
            <a:off x="10146826" y="4233347"/>
            <a:ext cx="7674164" cy="589642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6795420" y="3490376"/>
            <a:ext cx="2134722" cy="1446970"/>
            <a:chOff x="0" y="0"/>
            <a:chExt cx="2846296" cy="1929294"/>
          </a:xfrm>
        </p:grpSpPr>
        <p:sp>
          <p:nvSpPr>
            <p:cNvPr id="7" name="Freeform 7"/>
            <p:cNvSpPr/>
            <p:nvPr/>
          </p:nvSpPr>
          <p:spPr>
            <a:xfrm>
              <a:off x="128320" y="0"/>
              <a:ext cx="2589656" cy="1929294"/>
            </a:xfrm>
            <a:custGeom>
              <a:avLst/>
              <a:gdLst/>
              <a:ahLst/>
              <a:cxnLst/>
              <a:rect l="l" t="t" r="r" b="b"/>
              <a:pathLst>
                <a:path w="2589656" h="1929294">
                  <a:moveTo>
                    <a:pt x="0" y="0"/>
                  </a:moveTo>
                  <a:lnTo>
                    <a:pt x="2589656" y="0"/>
                  </a:lnTo>
                  <a:lnTo>
                    <a:pt x="2589656" y="1929294"/>
                  </a:lnTo>
                  <a:lnTo>
                    <a:pt x="0" y="1929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29408"/>
              <a:ext cx="2846296" cy="335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26"/>
                </a:lnSpc>
                <a:spcBef>
                  <a:spcPct val="0"/>
                </a:spcBef>
              </a:pPr>
              <a:r>
                <a:rPr lang="en-US" sz="1518">
                  <a:solidFill>
                    <a:srgbClr val="000000"/>
                  </a:solidFill>
                  <a:latin typeface="IBM Plex Sans KR"/>
                  <a:ea typeface="IBM Plex Sans KR"/>
                  <a:cs typeface="IBM Plex Sans KR"/>
                  <a:sym typeface="IBM Plex Sans KR"/>
                </a:rPr>
                <a:t>웜매 여가 어디당가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96112" y="159703"/>
            <a:ext cx="4895776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1780000"/>
            <a:ext cx="158880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2C4A6E"/>
                </a:solidFill>
                <a:latin typeface="210 나의동무"/>
                <a:ea typeface="210 나의동무"/>
                <a:cs typeface="210 나의동무"/>
                <a:sym typeface="210 나의동무"/>
              </a:rPr>
              <a:t>웜매, 뭣이 문제였냐면 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0000" y="2380000"/>
            <a:ext cx="7694000" cy="3493500"/>
          </a:xfrm>
          <a:prstGeom prst="roundRect">
            <a:avLst>
              <a:gd name="adj" fmla="val 35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20000" y="2720000"/>
            <a:ext cx="6854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좁은 후보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3380000"/>
            <a:ext cx="6854000" cy="219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신림·노량진처럼 이름을 들어본 동네만 후보에 오릅니다.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조건이 더 좋은 동네가 있어도 모릅니다.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94000" y="2380000"/>
            <a:ext cx="7694000" cy="3493500"/>
          </a:xfrm>
          <a:prstGeom prst="roundRect">
            <a:avLst>
              <a:gd name="adj" fmla="val 35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14000" y="2720000"/>
            <a:ext cx="6854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뒤바뀐 순서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000" y="3380000"/>
            <a:ext cx="6854000" cy="219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동네를 먼저 고르는 게 아니라, 매물을 먼저 찾고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그 동네를 받아들이게 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0000" y="6373500"/>
            <a:ext cx="7694000" cy="3493500"/>
          </a:xfrm>
          <a:prstGeom prst="roundRect">
            <a:avLst>
              <a:gd name="adj" fmla="val 35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0000" y="6713500"/>
            <a:ext cx="6854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비교 불가능한 후기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0000" y="7373500"/>
            <a:ext cx="6854000" cy="219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커뮤니티 후기는 있어도 개인 경험이라,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 동네가 몇 등인지는 아무도 알려주지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94000" y="6373500"/>
            <a:ext cx="7694000" cy="3493500"/>
          </a:xfrm>
          <a:prstGeom prst="roundRect">
            <a:avLst>
              <a:gd name="adj" fmla="val 35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4000" y="6713500"/>
            <a:ext cx="6854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뒤늦은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4000" y="7373500"/>
            <a:ext cx="6854000" cy="219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통근 1시간 20분, 편의점까지 도보 12분 —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이사하고 나서야 알게 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94141" y="424315"/>
            <a:ext cx="4299719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요구사항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00000" y="2200000"/>
            <a:ext cx="7694000" cy="16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80000" y="2420000"/>
            <a:ext cx="6934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A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GUEST · 비로그인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0000" y="2760000"/>
            <a:ext cx="6934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0000" y="3220000"/>
            <a:ext cx="6934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목적지 검색, 지도 등급, 추천 동 조회, 조건 조정, 후기 조회 —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쓰기 기능만 빠진 전체 탐색.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94000" y="2200000"/>
            <a:ext cx="7694000" cy="165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74000" y="2420000"/>
            <a:ext cx="6934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A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MEMBER · 로그인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74000" y="2760000"/>
            <a:ext cx="6934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4000" y="3220000"/>
            <a:ext cx="6934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게스트 기능 전부 + 후기 작성·수정·삭제·도움돼요.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OAuth 로그인, 행정동당 후기 1건.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200000" y="4250000"/>
          <a:ext cx="15888000" cy="4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4000000"/>
                <a:gridCol w="9088000"/>
              </a:tblGrid>
              <a:tr h="81666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ID</a:t>
                      </a:r>
                    </a:p>
                  </a:txBody>
                  <a:tcPr marL="90000" marR="90000" marT="45000" marB="45000" anchor="ctr">
                    <a:solidFill>
                      <a:srgbClr val="2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요구사항명</a:t>
                      </a:r>
                    </a:p>
                  </a:txBody>
                  <a:tcPr marL="90000" marR="90000" marT="45000" marB="45000" anchor="ctr">
                    <a:solidFill>
                      <a:srgbClr val="2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핵심 내용</a:t>
                      </a:r>
                    </a:p>
                  </a:txBody>
                  <a:tcPr marL="90000" marR="90000" marT="45000" marB="45000" anchor="ctr">
                    <a:solidFill>
                      <a:srgbClr val="2C4A6E"/>
                    </a:solidFill>
                  </a:tcPr>
                </a:tc>
              </a:tr>
              <a:tr h="81666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REQ-FUNC-002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목적지 검색·추가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서버 지오코딩 프록시로 최대 3곳까지 검색·추가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</a:tr>
              <a:tr h="81666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REQ-FUNC-008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등급 계산 과정 공개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지표별 백분위·가중치·계산식을 접이식으로 전부 노출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</a:tr>
              <a:tr h="81666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REQ-FUNC-011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소셜 로그인·로그아웃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카카오/GitHub OAuth, 비밀번호 없음, 닉네임은 UID 기반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</a:tr>
              <a:tr h="81666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REQ-FUNC-013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후기 작성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회원 1명당 행정동 1건, 본문 20자 이상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</a:tr>
              <a:tr h="81667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REQ-NFN-001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지도 첫 로딩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/api/data 응답 후 2초 이내 등급 지도 표시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69052" y="424315"/>
            <a:ext cx="2149897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화면</a:t>
            </a:r>
          </a:p>
        </p:txBody>
      </p:sp>
      <p:pic>
        <p:nvPicPr>
          <p:cNvPr id="3" name="Picture 2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693" y="2050000"/>
            <a:ext cx="7566614" cy="3300000"/>
          </a:xfrm>
          <a:prstGeom prst="rect">
            <a:avLst/>
          </a:prstGeom>
        </p:spPr>
      </p:pic>
      <p:pic>
        <p:nvPicPr>
          <p:cNvPr id="4" name="Picture 3" descr="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00" y="5650000"/>
            <a:ext cx="3759600" cy="3900000"/>
          </a:xfrm>
          <a:prstGeom prst="rect">
            <a:avLst/>
          </a:prstGeom>
        </p:spPr>
      </p:pic>
      <p:pic>
        <p:nvPicPr>
          <p:cNvPr id="5" name="Picture 4" descr="w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4000" y="5650000"/>
            <a:ext cx="3767001" cy="39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0000" y="9750000"/>
            <a:ext cx="15888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SCR-HOME-001 랜딩 → SCR-MAIN-001 지도 → SCR-WGHT-001 조건·추천 — 검색 한 번으로 함께 움직입니다.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90210" y="424315"/>
            <a:ext cx="1707579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DB</a:t>
            </a:r>
          </a:p>
        </p:txBody>
      </p:sp>
      <p:pic>
        <p:nvPicPr>
          <p:cNvPr id="3" name="Picture 2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2050000"/>
            <a:ext cx="7051053" cy="73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00000" y="2400000"/>
            <a:ext cx="5888000" cy="4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읽기 전용은 KV,</a:t>
            </a:r>
          </a:p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사용자가 만드는</a:t>
            </a:r>
          </a:p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데이터는 D1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0000" y="4600000"/>
            <a:ext cx="5888000" cy="3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547개 행정동의 지표·경계·점수는 배치가 통째로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교체하는 읽기 전용 번들이라 KV에 둡니다.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계정·후기처럼 제약조건과 조인이 필요한 데이터만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관계형 D1에 둡니다.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destinations→reviews는 UNIQUE라 사실상 1:1,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review_helpfuls가 reviews↔users를 M:N으로 잇습니다.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65306" y="424315"/>
            <a:ext cx="195738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1950000"/>
            <a:ext cx="15888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데이터는 한 번에, 쓰기는 필요한 만큼만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00000" y="2650000"/>
          <a:ext cx="15888000" cy="5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/>
                <a:gridCol w="5800000"/>
                <a:gridCol w="5688000"/>
                <a:gridCol w="3000000"/>
              </a:tblGrid>
              <a:tr h="84285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Method</a:t>
                      </a:r>
                    </a:p>
                  </a:txBody>
                  <a:tcPr marL="90000" marR="90000" marT="45000" marB="45000" anchor="ctr">
                    <a:solidFill>
                      <a:srgbClr val="2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Path</a:t>
                      </a:r>
                    </a:p>
                  </a:txBody>
                  <a:tcPr marL="90000" marR="90000" marT="45000" marB="45000" anchor="ctr">
                    <a:solidFill>
                      <a:srgbClr val="2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설명</a:t>
                      </a:r>
                    </a:p>
                  </a:txBody>
                  <a:tcPr marL="90000" marR="90000" marT="45000" marB="45000" anchor="ctr">
                    <a:solidFill>
                      <a:srgbClr val="2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예외</a:t>
                      </a:r>
                    </a:p>
                  </a:txBody>
                  <a:tcPr marL="90000" marR="90000" marT="45000" marB="45000" anchor="ctr">
                    <a:solidFill>
                      <a:srgbClr val="2C4A6E"/>
                    </a:solidFill>
                  </a:tcPr>
                </a:tc>
              </a:tr>
              <a:tr h="84285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9E5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GET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/api/data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지도 데이터 번들 조회 — 최초 진입 1회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04D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500·503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</a:tr>
              <a:tr h="84285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9E5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GET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/api/geocode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목적지 주소·장소명 검색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04D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404·500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</a:tr>
              <a:tr h="84285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C4A6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GET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/api/auth/{provider}/callback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OAuth 콜백 — 세션 발급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04D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400·500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</a:tr>
              <a:tr h="84285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88A1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POST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/api/regions/{code}/reviews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행정동 후기 작성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04D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401·409 동당 1건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</a:tr>
              <a:tr h="84285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88A1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PATCH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/api/reviews/{id}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본인 후기 수정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04D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401·403 타인 리소스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</a:tr>
              <a:tr h="84285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88A1E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POST</a:t>
                      </a:r>
                    </a:p>
                  </a:txBody>
                  <a:tcPr marL="90000" marR="90000" marT="45000" marB="45000" anchor="ctr">
                    <a:solidFill>
                      <a:srgbClr val="FAF8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/api/reviews/{id}/helpful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6B6B6B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도움돼요 등록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04D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401·409 중복 등록</a:t>
                      </a:r>
                    </a:p>
                  </a:txBody>
                  <a:tcPr marL="90000" marR="90000" marT="45000" marB="4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00000" y="8700000"/>
            <a:ext cx="15888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데이터 1  ·  지오코딩 1  ·  인증 4  ·  후기 6   (총 12 operations)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69052" y="424315"/>
            <a:ext cx="2149897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계획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00000" y="2200000"/>
            <a:ext cx="7694000" cy="69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20000" y="2540000"/>
            <a:ext cx="68540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A2A2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◐  의도적으로 축소한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0000" y="3250000"/>
            <a:ext cx="6854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통근 페널티 Φ(t)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000" y="3650000"/>
            <a:ext cx="6854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실제 서비스는 통근이 길수록 점수를 서서히 깎지만, 이번 설계는 “상한 넘으면 제외”라는 단순 필터로 정의했습니다.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5150000"/>
            <a:ext cx="6854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행정동 547 vs 556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0000" y="5550000"/>
            <a:ext cx="6854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이번 설계 범위(신분당선 축)와 실제 서비스(GTX-A 동탄 포함)의 차이입니다.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7050000"/>
            <a:ext cx="6854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후기 신고·제재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0" y="7450000"/>
            <a:ext cx="6854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운영 주체가 없는 설계라 이번엔 넣지 않았습니다.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94000" y="2200000"/>
            <a:ext cx="7694000" cy="69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14000" y="2540000"/>
            <a:ext cx="68540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4A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◑  다음 스프린트에 붙일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4000" y="3250000"/>
            <a:ext cx="6854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인증·후기 서버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000" y="3650000"/>
            <a:ext cx="6854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SCR-AUTH-001 / RVW-001 / RVW-002는 설계가 끝났고, D1 스키마도 준비됐습니다.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4000" y="5150000"/>
            <a:ext cx="6854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지표 스냅샷 버전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4000" y="5550000"/>
            <a:ext cx="6854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지금은 최신 값 한 벌만 KV에 올립니다. 배포 이력 추적·롤백은 다음 단계입니다.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4000" y="7050000"/>
            <a:ext cx="6854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주택유형별 월세 세분화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4000" y="7450000"/>
            <a:ext cx="6854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단독·다가구부터 아파트까지 나눠 보여주는 건 실제 서비스 기능이고,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이번 설계는 단일 지표로 단순화했습니다.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69052" y="424315"/>
            <a:ext cx="2149897" cy="1566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고민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00000" y="2200000"/>
            <a:ext cx="13488000" cy="1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600" b="0">
                <a:solidFill>
                  <a:srgbClr val="2A2A2A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다 만들 수 있어서 다 안 넣은 게 아니라, 3일 안에 검증 가능한</a:t>
            </a:r>
          </a:p>
          <a:p>
            <a:pPr algn="ctr">
              <a:lnSpc>
                <a:spcPct val="140000"/>
              </a:lnSpc>
            </a:pPr>
            <a:r>
              <a:rPr sz="2600" b="0">
                <a:solidFill>
                  <a:srgbClr val="2A2A2A"/>
                </a:solidFill>
                <a:latin typeface="210 디딤명조"/>
                <a:ea typeface="210 디딤명조"/>
                <a:cs typeface="210 디딤명조"/>
                <a:sym typeface="210 디딤명조"/>
              </a:rPr>
              <a:t>설계로 마감하려고 일부러 줄였습니다.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0000" y="3900000"/>
            <a:ext cx="15888000" cy="1350000"/>
          </a:xfrm>
          <a:prstGeom prst="roundRect">
            <a:avLst>
              <a:gd name="adj" fmla="val 35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000" y="4120000"/>
            <a:ext cx="4200000" cy="91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2C4A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경계를 긋는 것도 설계다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00000" y="4120000"/>
            <a:ext cx="10600000" cy="91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무엇을 뺐는지, 왜 뺐는지를 정확히 적어두는 것도 이번 설계의 일부입니다.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0000" y="5550000"/>
            <a:ext cx="15888000" cy="1350000"/>
          </a:xfrm>
          <a:prstGeom prst="roundRect">
            <a:avLst>
              <a:gd name="adj" fmla="val 35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000" y="5770000"/>
            <a:ext cx="4200000" cy="91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2C4A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동네를 알아야 서비스가 보인다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0000" y="5770000"/>
            <a:ext cx="10600000" cy="91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행정동 547 vs 556 차이는 직접 만들어 본 사람만 아는 디테일입니다.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0000" y="7200000"/>
            <a:ext cx="15888000" cy="1350000"/>
          </a:xfrm>
          <a:prstGeom prst="roundRect">
            <a:avLst>
              <a:gd name="adj" fmla="val 3500"/>
            </a:avLst>
          </a:prstGeom>
          <a:solidFill>
            <a:srgbClr val="FAF8F2"/>
          </a:solidFill>
          <a:ln w="12700">
            <a:solidFill>
              <a:srgbClr val="DD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7420000"/>
            <a:ext cx="4200000" cy="91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2C4A6E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코드보다 먼저 정한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0000" y="7420000"/>
            <a:ext cx="10600000" cy="91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인증·후기는 설계가 끝났고, 다음은 그대로 구현만 남았습니다.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000" y="3400000"/>
            <a:ext cx="15888000" cy="2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0" b="1">
                <a:solidFill>
                  <a:srgbClr val="000000"/>
                </a:solidFill>
                <a:latin typeface="210 나의동무"/>
                <a:ea typeface="210 나의동무"/>
                <a:cs typeface="210 나의동무"/>
                <a:sym typeface="210 나의동무"/>
              </a:rPr>
              <a:t>인자 알겄어라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6100000"/>
            <a:ext cx="1588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2A2A2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이제는, 압니다. 아는 동네가 없어도 비교는 할 수 있어야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0000" y="7200000"/>
            <a:ext cx="15888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감사합니다. 질문 받겠습니다.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" y="9550000"/>
            <a:ext cx="15888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I Don't Know Seoul   ·   판교 7반 · P211 · 김기현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</Words>
  <Application>Microsoft Macintosh PowerPoint</Application>
  <PresentationFormat>사용자 지정</PresentationFormat>
  <Paragraphs>14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IBM Plex Sans KR</vt:lpstr>
      <vt:lpstr>Calibri</vt:lpstr>
      <vt:lpstr>210 나의동무</vt:lpstr>
      <vt:lpstr>Arial</vt:lpstr>
      <vt:lpstr>210 디딤명조</vt:lpstr>
      <vt:lpstr>Canva Sans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cp:lastModifiedBy>김기현</cp:lastModifiedBy>
  <cp:revision>3</cp:revision>
  <dcterms:created xsi:type="dcterms:W3CDTF">2006-08-16T00:00:00Z</dcterms:created>
  <dcterms:modified xsi:type="dcterms:W3CDTF">2026-09-16T08:41:49Z</dcterms:modified>
  <dc:identifier>DAHVVqN0XFY</dc:identifier>
</cp:coreProperties>
</file>