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9" r:id="rId9"/>
    <p:sldId id="270" r:id="rId10"/>
    <p:sldId id="261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2" r:id="rId19"/>
    <p:sldId id="263" r:id="rId20"/>
    <p:sldId id="264" r:id="rId21"/>
    <p:sldId id="266" r:id="rId22"/>
  </p:sldIdLst>
  <p:sldSz cx="18288000" cy="10287000"/>
  <p:notesSz cx="6858000" cy="9144000"/>
  <p:embeddedFontLst>
    <p:embeddedFont>
      <p:font typeface="210 나의동무" panose="02020603020101020101" pitchFamily="18" charset="-127"/>
      <p:regular r:id="rId23"/>
    </p:embeddedFont>
    <p:embeddedFont>
      <p:font typeface="210 디딤명조" panose="02020503020101020101" pitchFamily="18" charset="-127"/>
      <p:regular r:id="rId24"/>
    </p:embeddedFont>
    <p:embeddedFont>
      <p:font typeface="IBM Plex Sans KR" panose="020B0503050203000203" pitchFamily="34" charset="-127"/>
      <p:regular r:id="rId25"/>
    </p:embeddedFont>
    <p:embeddedFont>
      <p:font typeface="Canva Sans Bold" panose="020B0803030501040103" pitchFamily="3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89" autoAdjust="0"/>
  </p:normalViewPr>
  <p:slideViewPr>
    <p:cSldViewPr>
      <p:cViewPr>
        <p:scale>
          <a:sx n="71" d="100"/>
          <a:sy n="71" d="100"/>
        </p:scale>
        <p:origin x="56" y="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594286" cy="10287000"/>
          </a:xfrm>
          <a:custGeom>
            <a:avLst/>
            <a:gdLst/>
            <a:ahLst/>
            <a:cxnLst/>
            <a:rect l="l" t="t" r="r" b="b"/>
            <a:pathLst>
              <a:path w="19594286" h="10287000">
                <a:moveTo>
                  <a:pt x="0" y="0"/>
                </a:moveTo>
                <a:lnTo>
                  <a:pt x="19594286" y="0"/>
                </a:lnTo>
                <a:lnTo>
                  <a:pt x="195942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altLang="ko-Kore-KR" dirty="0"/>
              <a:t>z</a:t>
            </a:r>
            <a:endParaRPr lang="ko-Kore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914400" y="9486900"/>
            <a:ext cx="2362181" cy="382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7반 P211 김기현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35572" y="-101363"/>
            <a:ext cx="17288171" cy="10388363"/>
          </a:xfrm>
          <a:custGeom>
            <a:avLst/>
            <a:gdLst/>
            <a:ahLst/>
            <a:cxnLst/>
            <a:rect l="l" t="t" r="r" b="b"/>
            <a:pathLst>
              <a:path w="17288171" h="10388363">
                <a:moveTo>
                  <a:pt x="0" y="0"/>
                </a:moveTo>
                <a:lnTo>
                  <a:pt x="17288171" y="0"/>
                </a:lnTo>
                <a:lnTo>
                  <a:pt x="17288171" y="10388363"/>
                </a:lnTo>
                <a:lnTo>
                  <a:pt x="0" y="10388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" r="-8032"/>
            </a:stretch>
          </a:blipFill>
        </p:spPr>
        <p:txBody>
          <a:bodyPr/>
          <a:lstStyle/>
          <a:p>
            <a:endParaRPr lang="ko-Kore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117542" y="1418385"/>
            <a:ext cx="8606198" cy="8918339"/>
            <a:chOff x="0" y="0"/>
            <a:chExt cx="11474930" cy="11891119"/>
          </a:xfrm>
        </p:grpSpPr>
        <p:sp>
          <p:nvSpPr>
            <p:cNvPr id="4" name="Freeform 4"/>
            <p:cNvSpPr/>
            <p:nvPr/>
          </p:nvSpPr>
          <p:spPr>
            <a:xfrm rot="138000">
              <a:off x="-233984" y="-225465"/>
              <a:ext cx="11942898" cy="12342049"/>
            </a:xfrm>
            <a:custGeom>
              <a:avLst/>
              <a:gdLst/>
              <a:ahLst/>
              <a:cxnLst/>
              <a:rect l="l" t="t" r="r" b="b"/>
              <a:pathLst>
                <a:path w="11942898" h="12342049">
                  <a:moveTo>
                    <a:pt x="0" y="460510"/>
                  </a:moveTo>
                  <a:lnTo>
                    <a:pt x="11465686" y="0"/>
                  </a:lnTo>
                  <a:lnTo>
                    <a:pt x="11942898" y="11881540"/>
                  </a:lnTo>
                  <a:lnTo>
                    <a:pt x="477212" y="12342049"/>
                  </a:lnTo>
                  <a:lnTo>
                    <a:pt x="0" y="460510"/>
                  </a:lnTo>
                  <a:close/>
                </a:path>
              </a:pathLst>
            </a:custGeom>
            <a:blipFill>
              <a:blip r:embed="rId3"/>
              <a:stretch>
                <a:fillRect l="-4987" t="-216" r="-396" b="-5458"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8549499" y="10353761"/>
              <a:ext cx="1572451" cy="1403974"/>
            </a:xfrm>
            <a:custGeom>
              <a:avLst/>
              <a:gdLst/>
              <a:ahLst/>
              <a:cxnLst/>
              <a:rect l="l" t="t" r="r" b="b"/>
              <a:pathLst>
                <a:path w="1572451" h="1403974">
                  <a:moveTo>
                    <a:pt x="0" y="0"/>
                  </a:moveTo>
                  <a:lnTo>
                    <a:pt x="1572451" y="0"/>
                  </a:lnTo>
                  <a:lnTo>
                    <a:pt x="1572451" y="1403974"/>
                  </a:lnTo>
                  <a:lnTo>
                    <a:pt x="0" y="1403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</p:grpSp>
      <p:sp>
        <p:nvSpPr>
          <p:cNvPr id="6" name="Freeform 6"/>
          <p:cNvSpPr/>
          <p:nvPr/>
        </p:nvSpPr>
        <p:spPr>
          <a:xfrm rot="780698">
            <a:off x="1477968" y="2399174"/>
            <a:ext cx="1041362" cy="749781"/>
          </a:xfrm>
          <a:custGeom>
            <a:avLst/>
            <a:gdLst/>
            <a:ahLst/>
            <a:cxnLst/>
            <a:rect l="l" t="t" r="r" b="b"/>
            <a:pathLst>
              <a:path w="1041362" h="749781">
                <a:moveTo>
                  <a:pt x="0" y="0"/>
                </a:moveTo>
                <a:lnTo>
                  <a:pt x="1041362" y="0"/>
                </a:lnTo>
                <a:lnTo>
                  <a:pt x="1041362" y="749781"/>
                </a:lnTo>
                <a:lnTo>
                  <a:pt x="0" y="7497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94828" y="162517"/>
            <a:ext cx="5905557" cy="184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34"/>
              </a:lnSpc>
            </a:pPr>
            <a:r>
              <a:rPr lang="en-US" sz="10739">
                <a:solidFill>
                  <a:srgbClr val="000000"/>
                </a:solidFill>
                <a:latin typeface="210 나의동무"/>
                <a:ea typeface="210 나의동무"/>
                <a:cs typeface="210 나의동무"/>
                <a:sym typeface="210 나의동무"/>
              </a:rPr>
              <a:t>옛날 옛적에...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4828" y="8521691"/>
            <a:ext cx="5385060" cy="151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sz="4363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눈부시고 아름다운 도시 </a:t>
            </a:r>
          </a:p>
          <a:p>
            <a:pPr algn="ctr">
              <a:lnSpc>
                <a:spcPts val="6108"/>
              </a:lnSpc>
              <a:spcBef>
                <a:spcPct val="0"/>
              </a:spcBef>
            </a:pPr>
            <a:r>
              <a:rPr lang="en-US" sz="4363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대한민국 전주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58543" y="8753673"/>
            <a:ext cx="3529457" cy="1287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김XX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(</a:t>
            </a: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만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25세)</a:t>
            </a:r>
          </a:p>
          <a:p>
            <a:pPr algn="ctr">
              <a:lnSpc>
                <a:spcPts val="5120"/>
              </a:lnSpc>
              <a:spcBef>
                <a:spcPct val="0"/>
              </a:spcBef>
            </a:pP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전주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</a:t>
            </a: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거주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25년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37651" y="-168130"/>
            <a:ext cx="13745194" cy="11517300"/>
          </a:xfrm>
          <a:custGeom>
            <a:avLst/>
            <a:gdLst/>
            <a:ahLst/>
            <a:cxnLst/>
            <a:rect l="l" t="t" r="r" b="b"/>
            <a:pathLst>
              <a:path w="13745194" h="11517300">
                <a:moveTo>
                  <a:pt x="0" y="0"/>
                </a:moveTo>
                <a:lnTo>
                  <a:pt x="13745195" y="0"/>
                </a:lnTo>
                <a:lnTo>
                  <a:pt x="13745195" y="11517300"/>
                </a:lnTo>
                <a:lnTo>
                  <a:pt x="0" y="1151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4530">
            <a:off x="-630544" y="-46478"/>
            <a:ext cx="8598764" cy="6606836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2386521" y="3373209"/>
            <a:ext cx="5266365" cy="7068946"/>
          </a:xfrm>
          <a:custGeom>
            <a:avLst/>
            <a:gdLst/>
            <a:ahLst/>
            <a:cxnLst/>
            <a:rect l="l" t="t" r="r" b="b"/>
            <a:pathLst>
              <a:path w="5266365" h="7068946">
                <a:moveTo>
                  <a:pt x="0" y="0"/>
                </a:moveTo>
                <a:lnTo>
                  <a:pt x="5266364" y="0"/>
                </a:lnTo>
                <a:lnTo>
                  <a:pt x="5266364" y="7068946"/>
                </a:lnTo>
                <a:lnTo>
                  <a:pt x="0" y="7068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6795420" y="3490376"/>
            <a:ext cx="2134722" cy="1446970"/>
            <a:chOff x="0" y="0"/>
            <a:chExt cx="2846296" cy="1929294"/>
          </a:xfrm>
        </p:grpSpPr>
        <p:sp>
          <p:nvSpPr>
            <p:cNvPr id="7" name="Freeform 7"/>
            <p:cNvSpPr/>
            <p:nvPr/>
          </p:nvSpPr>
          <p:spPr>
            <a:xfrm>
              <a:off x="128320" y="0"/>
              <a:ext cx="2589656" cy="1929294"/>
            </a:xfrm>
            <a:custGeom>
              <a:avLst/>
              <a:gdLst/>
              <a:ahLst/>
              <a:cxnLst/>
              <a:rect l="l" t="t" r="r" b="b"/>
              <a:pathLst>
                <a:path w="2589656" h="1929294">
                  <a:moveTo>
                    <a:pt x="0" y="0"/>
                  </a:moveTo>
                  <a:lnTo>
                    <a:pt x="2589656" y="0"/>
                  </a:lnTo>
                  <a:lnTo>
                    <a:pt x="2589656" y="1929294"/>
                  </a:lnTo>
                  <a:lnTo>
                    <a:pt x="0" y="1929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29408"/>
              <a:ext cx="2846296" cy="335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"/>
                </a:lnSpc>
                <a:spcBef>
                  <a:spcPct val="0"/>
                </a:spcBef>
              </a:pPr>
              <a:r>
                <a:rPr lang="en-US" sz="1518">
                  <a:solidFill>
                    <a:srgbClr val="000000"/>
                  </a:solidFill>
                  <a:latin typeface="IBM Plex Sans KR"/>
                  <a:ea typeface="IBM Plex Sans KR"/>
                  <a:cs typeface="IBM Plex Sans KR"/>
                  <a:sym typeface="IBM Plex Sans KR"/>
                </a:rPr>
                <a:t>웜매 여가 어디당가</a:t>
              </a:r>
            </a:p>
          </p:txBody>
        </p:sp>
      </p:grpSp>
      <p:pic>
        <p:nvPicPr>
          <p:cNvPr id="11" name="Picture 8">
            <a:extLst>
              <a:ext uri="{FF2B5EF4-FFF2-40B4-BE49-F238E27FC236}">
                <a16:creationId xmlns:a16="http://schemas.microsoft.com/office/drawing/2014/main" id="{85A6DDBD-70AF-7FE2-48AC-A410CA72A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70262">
            <a:off x="9236178" y="3304128"/>
            <a:ext cx="9380014" cy="72071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8856" y="200184"/>
            <a:ext cx="641028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문제</a:t>
            </a: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9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정의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00000" y="23800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0" y="2720000"/>
            <a:ext cx="6854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좁은 후보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3380000"/>
            <a:ext cx="6854000" cy="219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신림·노량진처럼 이름을 들어본 동네만 후보에 오릅니다.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조건이 더 좋은 동네가 있어도 모릅니다.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4000" y="23800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14000" y="2720000"/>
            <a:ext cx="6854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뒤바뀐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000" y="3380000"/>
            <a:ext cx="6854000" cy="219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동네를 먼저 고르는 게 아니라, 매물을 먼저 찾고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그 동네를 받아들이게 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0000" y="63735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20000" y="6713500"/>
            <a:ext cx="6854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비교 불가능한 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7373500"/>
            <a:ext cx="6854000" cy="219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커뮤니티 후기는 있어도 개인 경험이라,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 동네가 몇 등인지는 아무도 알려주지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94000" y="63735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14000" y="6713500"/>
            <a:ext cx="6854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 err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뒤늦은</a:t>
            </a:r>
            <a:r>
              <a:rPr sz="3000" b="1" dirty="0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ko-KR" altLang="en-US" sz="3000" b="1" dirty="0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체감</a:t>
            </a:r>
            <a:endParaRPr sz="3000" b="1" dirty="0">
              <a:solidFill>
                <a:srgbClr val="000000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14000" y="7373500"/>
            <a:ext cx="6854000" cy="219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통근</a:t>
            </a:r>
            <a:r>
              <a:rPr sz="18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1시간 20분, </a:t>
            </a:r>
            <a:r>
              <a:rPr sz="18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편의점까지</a:t>
            </a:r>
            <a:r>
              <a:rPr sz="18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도보</a:t>
            </a:r>
            <a:r>
              <a:rPr sz="18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12분 —</a:t>
            </a:r>
          </a:p>
          <a:p>
            <a:pPr algn="l">
              <a:lnSpc>
                <a:spcPct val="130000"/>
              </a:lnSpc>
            </a:pPr>
            <a:r>
              <a:rPr sz="18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이사하고</a:t>
            </a:r>
            <a:r>
              <a:rPr sz="18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나서야</a:t>
            </a:r>
            <a:r>
              <a:rPr sz="18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알게</a:t>
            </a:r>
            <a:r>
              <a:rPr sz="18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됩니다</a:t>
            </a:r>
            <a:r>
              <a:rPr sz="18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675A-F9BE-3292-BC98-5B220A888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EBE6D6A-DB69-6134-B950-A366146E2C76}"/>
              </a:ext>
            </a:extLst>
          </p:cNvPr>
          <p:cNvSpPr txBox="1"/>
          <p:nvPr/>
        </p:nvSpPr>
        <p:spPr>
          <a:xfrm>
            <a:off x="5938856" y="200184"/>
            <a:ext cx="641028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ko-KR" alt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핵심 가치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200000" y="2380000"/>
            <a:ext cx="7694000" cy="3493500"/>
          </a:xfrm>
          <a:prstGeom prst="roundRect">
            <a:avLst>
              <a:gd name="adj" fmla="val 40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0000" y="27200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아는 동네가 없어도 후보가 만들어진다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0000" y="34200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목적지를 입력하면 547개 행정동을 공공데이터로 자동 채점한다.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치안 30 · 가격 35 · 생활편의 35 가중치, 상위 30% Best · 하위 30% Bad.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94000" y="2380000"/>
            <a:ext cx="7694000" cy="3493500"/>
          </a:xfrm>
          <a:prstGeom prst="roundRect">
            <a:avLst>
              <a:gd name="adj" fmla="val 40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4000" y="27200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추천 근거를 끝까지 공개한다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000" y="34200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원지표 → 백분위 → 항목 점수 → 종합 점수까지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계산 과정을 화면에서 그대로 펼쳐 볼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0000" y="6373500"/>
            <a:ext cx="7694000" cy="3493500"/>
          </a:xfrm>
          <a:prstGeom prst="roundRect">
            <a:avLst>
              <a:gd name="adj" fmla="val 40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0000" y="67135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실거주 후기를 같은 화면에서 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74135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비슷한 통근 조건을 가진 사람의 후기를 우선 정렬한다.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 평점은 등급 계산에 쓰지 않는다.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94000" y="6373500"/>
            <a:ext cx="7694000" cy="3493500"/>
          </a:xfrm>
          <a:prstGeom prst="roundRect">
            <a:avLst>
              <a:gd name="adj" fmla="val 40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14000" y="67135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대부분의 기능은 로그인이 필요 없다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000" y="74135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탐색·조회는 계정 없이 전부 사용할 수 있고,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로그인은 후기를 작성할 때만 요구한다.</a:t>
            </a:r>
          </a:p>
        </p:txBody>
      </p:sp>
    </p:spTree>
    <p:extLst>
      <p:ext uri="{BB962C8B-B14F-4D97-AF65-F5344CB8AC3E}">
        <p14:creationId xmlns:p14="http://schemas.microsoft.com/office/powerpoint/2010/main" val="134278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6EEF-4ACB-4DB7-F352-AB426509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B55D435-2842-2556-E828-174E2EA2618F}"/>
              </a:ext>
            </a:extLst>
          </p:cNvPr>
          <p:cNvSpPr txBox="1"/>
          <p:nvPr/>
        </p:nvSpPr>
        <p:spPr>
          <a:xfrm>
            <a:off x="5938856" y="200184"/>
            <a:ext cx="641028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ko-KR" alt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대상 사용자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200000" y="2300000"/>
            <a:ext cx="7694000" cy="4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0000" y="2620000"/>
            <a:ext cx="6854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주 대상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0000" y="296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지방에서 상경해 첫 자취방을 구하는</a:t>
            </a:r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신입사원 · 대학원생 · 취준생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4100000"/>
            <a:ext cx="6854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4400000"/>
            <a:ext cx="685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회사·학교는 정해졌지만 서울 지리를 모른다.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아는 동네가 서너 곳뿐이라 후보 자체가 좁다.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5400000"/>
            <a:ext cx="6854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필요한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5700000"/>
            <a:ext cx="685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후보 지역을 대신 만들어 주는 것,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그리고 왜 그 동네인지 설명해 주는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94000" y="2300000"/>
            <a:ext cx="7694000" cy="4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4000" y="2620000"/>
            <a:ext cx="6854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부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000" y="296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수도권 안에서 이직·이사로</a:t>
            </a:r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연고 없는 지역을 알아보는 직장인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000" y="4100000"/>
            <a:ext cx="6854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000" y="4400000"/>
            <a:ext cx="685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지금 사는 동네는 알지만 새 직장 주변은 모른다.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통근 시간을 기준으로 후보를 다시 줄여야 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000" y="5400000"/>
            <a:ext cx="6854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필요한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000" y="5700000"/>
            <a:ext cx="685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목적지 기준으로 후보를 좁히는 것,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조건을 바꿔가며 비교하는 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0000" y="7200000"/>
            <a:ext cx="15888000" cy="900000"/>
          </a:xfrm>
          <a:prstGeom prst="roundRect">
            <a:avLst>
              <a:gd name="adj" fmla="val 40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0000" y="7440000"/>
            <a:ext cx="15048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이번 범위 밖 — 매물 중개·계약, 실시간 교통 정체, 모바일 네이티브 앱, 모바일 화면 대응, 결제, AI 챗봇, 운영자 백오피스</a:t>
            </a:r>
          </a:p>
        </p:txBody>
      </p:sp>
    </p:spTree>
    <p:extLst>
      <p:ext uri="{BB962C8B-B14F-4D97-AF65-F5344CB8AC3E}">
        <p14:creationId xmlns:p14="http://schemas.microsoft.com/office/powerpoint/2010/main" val="309336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97370" y="353728"/>
            <a:ext cx="649325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ko-KR" alt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시스템 </a:t>
            </a:r>
            <a:r>
              <a:rPr lang="ko-KR" altLang="en-US" sz="9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액터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297000" y="2471724"/>
            <a:ext cx="7694000" cy="16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77000" y="2691724"/>
            <a:ext cx="693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GUEST · 비로그인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7000" y="3031724"/>
            <a:ext cx="6934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77000" y="3491724"/>
            <a:ext cx="6934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목적지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검색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,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지도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등급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,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추천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동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조회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,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조건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조정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,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조회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—</a:t>
            </a:r>
          </a:p>
          <a:p>
            <a:pPr algn="l">
              <a:lnSpc>
                <a:spcPct val="125000"/>
              </a:lnSpc>
            </a:pP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쓰기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기능만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빠진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전체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탐색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97000" y="6165277"/>
            <a:ext cx="7694000" cy="16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77000" y="6385277"/>
            <a:ext cx="693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MEMBER · 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7000" y="6725277"/>
            <a:ext cx="6934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7000" y="7185277"/>
            <a:ext cx="6934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게스트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기능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전부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+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작성·수정·삭제·도움돼요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OAuth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로그인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,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행정동당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</a:t>
            </a:r>
            <a:r>
              <a:rPr sz="14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1건.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8E4D0-B5C7-4A02-FE75-D7B5BD00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9794F33-2CA7-7D1F-1164-D1610D58BF0B}"/>
              </a:ext>
            </a:extLst>
          </p:cNvPr>
          <p:cNvSpPr txBox="1"/>
          <p:nvPr/>
        </p:nvSpPr>
        <p:spPr>
          <a:xfrm>
            <a:off x="5897370" y="353728"/>
            <a:ext cx="7666230" cy="153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ko-KR" alt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기능 요구사항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743C0C3-227A-7B60-2AF7-D1A69086071B}"/>
              </a:ext>
            </a:extLst>
          </p:cNvPr>
          <p:cNvGraphicFramePr>
            <a:graphicFrameLocks noGrp="1"/>
          </p:cNvGraphicFramePr>
          <p:nvPr/>
        </p:nvGraphicFramePr>
        <p:xfrm>
          <a:off x="1200000" y="4250000"/>
          <a:ext cx="15888000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6666"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ID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요구사항명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핵심 내용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REQ-FUNC-002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목적지 검색·추가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서버 지오코딩 프록시로 최대 3곳까지 검색·추가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REQ-FUNC-008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등급 계산 과정 공개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지표별 백분위·가중치·계산식을 접이식으로 전부 노출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REQ-FUNC-011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소셜 로그인·로그아웃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카카오/GitHub OAuth, 비밀번호 없음, 닉네임은 UID 기반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REQ-FUNC-013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후기 작성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회원 1명당 행정동 1건, 본문 20자 이상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00000" y="3600000"/>
            <a:ext cx="15888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기능 요구사항 15개  —  탐색 7 · 등급 근거 3 · 계정 1 · 후기 4</a:t>
            </a:r>
          </a:p>
        </p:txBody>
      </p:sp>
    </p:spTree>
    <p:extLst>
      <p:ext uri="{BB962C8B-B14F-4D97-AF65-F5344CB8AC3E}">
        <p14:creationId xmlns:p14="http://schemas.microsoft.com/office/powerpoint/2010/main" val="3455027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D0E94-E8E7-07A2-2D48-AE4BEB55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1A2A660-6FAD-CF98-DFD2-233111956C92}"/>
              </a:ext>
            </a:extLst>
          </p:cNvPr>
          <p:cNvSpPr txBox="1"/>
          <p:nvPr/>
        </p:nvSpPr>
        <p:spPr>
          <a:xfrm>
            <a:off x="5897370" y="353728"/>
            <a:ext cx="10180830" cy="153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ko-KR" altLang="en-US" sz="9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비기능</a:t>
            </a:r>
            <a:r>
              <a:rPr lang="ko-KR" alt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요구사항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00000" y="2500000"/>
          <a:ext cx="15888000" cy="6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600000"/>
                <a:gridCol w="3800000"/>
                <a:gridCol w="6788000"/>
              </a:tblGrid>
              <a:tr h="88571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ID</a:t>
                      </a:r>
                    </a:p>
                  </a:txBody>
                  <a:tcPr marL="90000" marR="90000" marT="40000" marB="40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분류</a:t>
                      </a:r>
                    </a:p>
                  </a:txBody>
                  <a:tcPr marL="90000" marR="90000" marT="40000" marB="40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요구사항명</a:t>
                      </a:r>
                    </a:p>
                  </a:txBody>
                  <a:tcPr marL="90000" marR="90000" marT="40000" marB="40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측정 가능한 기준</a:t>
                      </a:r>
                    </a:p>
                  </a:txBody>
                  <a:tcPr marL="90000" marR="90000" marT="40000" marB="40000" anchor="ctr">
                    <a:solidFill>
                      <a:srgbClr val="2C4A6E"/>
                    </a:solidFill>
                  </a:tcPr>
                </a:tc>
              </a:tr>
              <a:tr h="88571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REQ-NFN-001</a:t>
                      </a:r>
                    </a:p>
                  </a:txBody>
                  <a:tcPr marL="90000" marR="90000" marT="40000" marB="40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성능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지도 첫 로딩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/api/data 응답 완료 후 547개 동 등급 지도를 2초 이내 표시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</a:tr>
              <a:tr h="88571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REQ-NFN-002</a:t>
                      </a:r>
                    </a:p>
                  </a:txBody>
                  <a:tcPr marL="90000" marR="90000" marT="40000" marB="40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성능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통근 계산 응답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목적지·조건 변경 후 브라우저의 통근 계산과 추천 재정렬을 1초 이내 완료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</a:tr>
              <a:tr h="88571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REQ-NFN-003</a:t>
                      </a:r>
                    </a:p>
                  </a:txBody>
                  <a:tcPr marL="90000" marR="90000" marT="40000" marB="40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보안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인증 토큰·API 키 비노출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외부 인증 토큰과 지오코딩 키는 서버에만 보관, 클라이언트 응답에 미포함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</a:tr>
              <a:tr h="88571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REQ-NFN-004</a:t>
                      </a:r>
                    </a:p>
                  </a:txBody>
                  <a:tcPr marL="90000" marR="90000" marT="40000" marB="40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보안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개인정보 최소 수집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제공자 식별자와 닉네임만 저장. 이메일·프로필 사진·실명 미저장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</a:tr>
              <a:tr h="88571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REQ-NFN-005</a:t>
                      </a:r>
                    </a:p>
                  </a:txBody>
                  <a:tcPr marL="90000" marR="90000" marT="40000" marB="40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호환성·인프라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브라우저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Chrome / Edge / Safari 최신 2개 버전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</a:tr>
              <a:tr h="8857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REQ-NFN-006</a:t>
                      </a:r>
                    </a:p>
                  </a:txBody>
                  <a:tcPr marL="90000" marR="90000" marT="40000" marB="40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유지보수성·신뢰성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데이터 출처·갱신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지표별 출처와 기준 시점을 화면에 표시, 월 1회 정기 배치로 갱신</a:t>
                      </a:r>
                    </a:p>
                  </a:txBody>
                  <a:tcPr marL="90000" marR="9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448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137000"/>
            <a:ext cx="7566614" cy="153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ko-KR" alt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사용자 흐름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0000" y="1980000"/>
            <a:ext cx="15888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게스트 흐름 — 로그인 없이 탐색부터 후기 읽기까지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0000" y="2480000"/>
            <a:ext cx="1901142" cy="8800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5875">
            <a:solidFill>
              <a:srgbClr val="B9C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0000" y="2780000"/>
            <a:ext cx="16611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서비스 진입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91142" y="285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1142" y="2480000"/>
            <a:ext cx="1901142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1142" y="2670000"/>
            <a:ext cx="16611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랜딩 페이지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1142" y="3010000"/>
            <a:ext cx="166114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SCR-HOME-001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22284" y="285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62284" y="2480000"/>
            <a:ext cx="1901142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2284" y="2670000"/>
            <a:ext cx="16611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목적지 검색·선택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2284" y="3010000"/>
            <a:ext cx="166114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GET /api/geocode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53426" y="285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426" y="2480000"/>
            <a:ext cx="1901142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3426" y="2670000"/>
            <a:ext cx="16611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등급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426" y="3010000"/>
            <a:ext cx="166114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SCR-MAIN-001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184568" y="285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24568" y="2480000"/>
            <a:ext cx="1901142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44568" y="2670000"/>
            <a:ext cx="16611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조건·추천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44568" y="3010000"/>
            <a:ext cx="166114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SCR-WGHT-001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2515710" y="285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855710" y="2480000"/>
            <a:ext cx="1901142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75710" y="2670000"/>
            <a:ext cx="16611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행정동 상세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75710" y="3010000"/>
            <a:ext cx="166114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SCR-DONG-001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4846852" y="285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186852" y="2480000"/>
            <a:ext cx="1901142" cy="880000"/>
          </a:xfrm>
          <a:prstGeom prst="roundRect">
            <a:avLst>
              <a:gd name="adj" fmla="val 4000"/>
            </a:avLst>
          </a:prstGeom>
          <a:solidFill>
            <a:srgbClr val="E9F6EE"/>
          </a:solidFill>
          <a:ln w="15875">
            <a:solidFill>
              <a:srgbClr val="9FD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06852" y="2670000"/>
            <a:ext cx="16611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 목록 조회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06852" y="3010000"/>
            <a:ext cx="166114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SCR-RVW-001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12855" y="3700000"/>
            <a:ext cx="4200000" cy="760000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 w="12700">
            <a:solidFill>
              <a:srgbClr val="E3B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2855" y="3860000"/>
            <a:ext cx="38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C2504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검색 결과 없음 · 대상 지역 밖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C2504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안내 문구 표시 후 현재 화면 유지 (404 / 400)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0000" y="5450000"/>
            <a:ext cx="15888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회원 흐름 — 쓰기 동작에서만 로그인을 요구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00000" y="5950000"/>
            <a:ext cx="2833600" cy="8800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5875">
            <a:solidFill>
              <a:srgbClr val="B9C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0000" y="6250000"/>
            <a:ext cx="2593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 쓰기 시도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123600" y="632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63600" y="5950000"/>
            <a:ext cx="2833600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3600" y="6140000"/>
            <a:ext cx="2593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세션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3600" y="6480000"/>
            <a:ext cx="2593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GET /api/auth/me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387200" y="632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27200" y="5950000"/>
            <a:ext cx="2833600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7200" y="6140000"/>
            <a:ext cx="2593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OAuth 로그인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7200" y="6480000"/>
            <a:ext cx="2593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SCR-AUTH-001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650800" y="632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90800" y="5950000"/>
            <a:ext cx="2833600" cy="88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CF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10800" y="6140000"/>
            <a:ext cx="2593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 작성·수정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10800" y="6480000"/>
            <a:ext cx="2593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SCR-RVW-002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3914400" y="6320000"/>
            <a:ext cx="250000" cy="1400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4254400" y="5950000"/>
            <a:ext cx="2833600" cy="880000"/>
          </a:xfrm>
          <a:prstGeom prst="roundRect">
            <a:avLst>
              <a:gd name="adj" fmla="val 4000"/>
            </a:avLst>
          </a:prstGeom>
          <a:solidFill>
            <a:srgbClr val="E9F6EE"/>
          </a:solidFill>
          <a:ln w="15875">
            <a:solidFill>
              <a:srgbClr val="9FD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374400" y="6140000"/>
            <a:ext cx="2593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목록 갱신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374400" y="6480000"/>
            <a:ext cx="2593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9A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SCR-RVW-001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07600" y="7180000"/>
            <a:ext cx="5200000" cy="860000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 w="12700">
            <a:solidFill>
              <a:srgbClr val="E3B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07600" y="7340000"/>
            <a:ext cx="48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C2504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같은 동 두 번째 후기 409 · 타인 후기 수정 403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C2504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세션 만료 401 → 로그인 모달 후 직전 동작 재개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00000" y="8500000"/>
            <a:ext cx="1588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지도·추천·상세·통근 계산은 최초 1회 GET /api/data로 받은 데이터로 브라우저가 처리한다.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서버는 외부 키 보호가 필요한 지오코딩과, 인증·영속 저장이 필요한 로그인·후기만 담당한다.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7B1E-B19C-98AA-D0BC-2D11248A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6F813A5-834F-C74A-41BC-FCCFA795FB48}"/>
              </a:ext>
            </a:extLst>
          </p:cNvPr>
          <p:cNvSpPr txBox="1"/>
          <p:nvPr/>
        </p:nvSpPr>
        <p:spPr>
          <a:xfrm>
            <a:off x="6096000" y="137000"/>
            <a:ext cx="5799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593D5C-778C-7ABB-0257-F04D478E0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770" y="2324100"/>
            <a:ext cx="10938459" cy="6695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000" y="9180000"/>
            <a:ext cx="15888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SCR-HOME-001 · 랜딩 페이지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9510000"/>
            <a:ext cx="1588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목적지를 검색해 탐색을 시작한다. 검색 없이 지도부터 볼 수도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9830000"/>
            <a:ext cx="15888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D8BF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REQ-FUNC-001 · REQ-FUNC-002</a:t>
            </a:r>
          </a:p>
        </p:txBody>
      </p:sp>
    </p:spTree>
    <p:extLst>
      <p:ext uri="{BB962C8B-B14F-4D97-AF65-F5344CB8AC3E}">
        <p14:creationId xmlns:p14="http://schemas.microsoft.com/office/powerpoint/2010/main" val="7855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47F7-0F41-4636-BE28-78D804E1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906090F-CF4D-CA71-90D2-20B9BC26BBB0}"/>
              </a:ext>
            </a:extLst>
          </p:cNvPr>
          <p:cNvSpPr txBox="1"/>
          <p:nvPr/>
        </p:nvSpPr>
        <p:spPr>
          <a:xfrm>
            <a:off x="6096000" y="137000"/>
            <a:ext cx="5799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04CB6E-42C2-895E-C77A-23A85D94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52700"/>
            <a:ext cx="7772400" cy="4757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000" y="9180000"/>
            <a:ext cx="15888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SCR-MAIN-001 · 메인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9510000"/>
            <a:ext cx="1588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547개 행정동 등급을 색으로 표시하고, 통근 상한을 넘는 동은 지도에서 비활성화한다.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9830000"/>
            <a:ext cx="15888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D8BF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REQ-FUNC-004 · REQ-FUNC-005 · REQ-FUNC-010</a:t>
            </a:r>
          </a:p>
        </p:txBody>
      </p:sp>
    </p:spTree>
    <p:extLst>
      <p:ext uri="{BB962C8B-B14F-4D97-AF65-F5344CB8AC3E}">
        <p14:creationId xmlns:p14="http://schemas.microsoft.com/office/powerpoint/2010/main" val="50986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8356-1B37-DC28-B295-99463583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2D4F266-66C2-FC06-C102-D5DBE7E96F45}"/>
              </a:ext>
            </a:extLst>
          </p:cNvPr>
          <p:cNvSpPr txBox="1"/>
          <p:nvPr/>
        </p:nvSpPr>
        <p:spPr>
          <a:xfrm>
            <a:off x="6096000" y="137000"/>
            <a:ext cx="5799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204A4A-A3F0-1572-8FDB-D287653A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049" y="2095500"/>
            <a:ext cx="11311902" cy="6924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000" y="9180000"/>
            <a:ext cx="15888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SCR-WGHT-001 · 목적지·조건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9510000"/>
            <a:ext cx="1588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통근 상한·월세·주택유형·가중치를 바꾸면 지도와 추천 상위 20개가 즉시 다시 계산된다.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9830000"/>
            <a:ext cx="15888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D8BF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REQ-FUNC-002 · REQ-FUNC-003 · REQ-FUNC-006</a:t>
            </a:r>
          </a:p>
        </p:txBody>
      </p:sp>
    </p:spTree>
    <p:extLst>
      <p:ext uri="{BB962C8B-B14F-4D97-AF65-F5344CB8AC3E}">
        <p14:creationId xmlns:p14="http://schemas.microsoft.com/office/powerpoint/2010/main" val="2334521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CB46-8B65-9297-948D-B1FB6C90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8D8E60A-94D6-9F16-9C7C-193EE822EFDA}"/>
              </a:ext>
            </a:extLst>
          </p:cNvPr>
          <p:cNvSpPr txBox="1"/>
          <p:nvPr/>
        </p:nvSpPr>
        <p:spPr>
          <a:xfrm>
            <a:off x="6096000" y="137000"/>
            <a:ext cx="5799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화면4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3B702E-35A5-2BDD-9AC9-84593EF5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98" y="1703544"/>
            <a:ext cx="11952204" cy="7316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000" y="9180000"/>
            <a:ext cx="15888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SCR-DONG-001 · 행정동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9510000"/>
            <a:ext cx="1588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원지표·백분위·가중치·계산식까지 등급 근거를 펼쳐 보여주고, 통근 경로를 함께 표시한다.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9830000"/>
            <a:ext cx="15888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D8BF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REQ-FUNC-007 · REQ-FUNC-008 · REQ-FUNC-009</a:t>
            </a:r>
          </a:p>
        </p:txBody>
      </p:sp>
    </p:spTree>
    <p:extLst>
      <p:ext uri="{BB962C8B-B14F-4D97-AF65-F5344CB8AC3E}">
        <p14:creationId xmlns:p14="http://schemas.microsoft.com/office/powerpoint/2010/main" val="2613000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ABB7-FD57-ED11-3FCD-3809BD34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C7581C-5212-6B83-E8E3-B66277CD5ED6}"/>
              </a:ext>
            </a:extLst>
          </p:cNvPr>
          <p:cNvSpPr txBox="1"/>
          <p:nvPr/>
        </p:nvSpPr>
        <p:spPr>
          <a:xfrm>
            <a:off x="6096000" y="137000"/>
            <a:ext cx="5799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9180000"/>
            <a:ext cx="15888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SCR-AUTH-001 · OAuth 로그인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9510000"/>
            <a:ext cx="1588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 쓰기 시도 또는 헤더 로그인에서 모달로 뜬다. 카카오·GitHub만 쓰고 비밀번호는 없다.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9830000"/>
            <a:ext cx="15888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D8BF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REQ-FUNC-011 · REQ-NFN-003 · REQ-NFN-004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0000" y="1900000"/>
            <a:ext cx="12500000" cy="7000000"/>
          </a:xfrm>
          <a:prstGeom prst="roundRect">
            <a:avLst>
              <a:gd name="adj" fmla="val 4000"/>
            </a:avLst>
          </a:prstGeom>
          <a:solidFill>
            <a:srgbClr val="14161B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0000" y="1900000"/>
            <a:ext cx="12500000" cy="900000"/>
          </a:xfrm>
          <a:prstGeom prst="rect">
            <a:avLst/>
          </a:prstGeom>
          <a:solidFill>
            <a:srgbClr val="1E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0" y="2120000"/>
            <a:ext cx="1182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I Don't Know Seoul  —  지도 화면 위 로그인 모달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0000" y="3400000"/>
            <a:ext cx="6400000" cy="4300000"/>
          </a:xfrm>
          <a:prstGeom prst="roundRect">
            <a:avLst>
              <a:gd name="adj" fmla="val 4000"/>
            </a:avLst>
          </a:prstGeom>
          <a:solidFill>
            <a:srgbClr val="1E2128"/>
          </a:solidFill>
          <a:ln w="1905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000" y="3740000"/>
            <a:ext cx="55600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000" y="4320000"/>
            <a:ext cx="556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9AA2B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후기를 남기려면 로그인이 필요합니다.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9AA2B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지역 탐색과 후기 읽기는 로그인 없이 그대로 쓸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0000" y="5250000"/>
            <a:ext cx="5560000" cy="620000"/>
          </a:xfrm>
          <a:prstGeom prst="roundRect">
            <a:avLst>
              <a:gd name="adj" fmla="val 4000"/>
            </a:avLst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000" y="5430000"/>
            <a:ext cx="55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916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카카오로 계속하기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0000" y="6000000"/>
            <a:ext cx="5560000" cy="620000"/>
          </a:xfrm>
          <a:prstGeom prst="roundRect">
            <a:avLst>
              <a:gd name="adj" fmla="val 4000"/>
            </a:avLst>
          </a:prstGeom>
          <a:solidFill>
            <a:srgbClr val="24292F"/>
          </a:solidFill>
          <a:ln w="12700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000" y="6180000"/>
            <a:ext cx="55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GitHub로 계속하기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000" y="6880000"/>
            <a:ext cx="556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6A728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제공자 식별자와 닉네임만 저장합니다. 이메일·프로필 사진·비밀번호는 저장하지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51326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93CB-E951-86C4-AA37-338C3D98B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D312CB3-DD81-3722-3565-551E0B9B6943}"/>
              </a:ext>
            </a:extLst>
          </p:cNvPr>
          <p:cNvSpPr txBox="1"/>
          <p:nvPr/>
        </p:nvSpPr>
        <p:spPr>
          <a:xfrm>
            <a:off x="6096000" y="137000"/>
            <a:ext cx="5799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화면6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F0F95F-556D-1F28-51E7-2B37CFB44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08" y="2019300"/>
            <a:ext cx="11436383" cy="7000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000" y="9180000"/>
            <a:ext cx="15888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SCR-RVW-001 · 행정동 후기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9510000"/>
            <a:ext cx="1588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로그인 없이 읽을 수 있고, 내 목적지와 통근 목적지가 가까운 후기부터 정렬한다.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9830000"/>
            <a:ext cx="15888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D8BF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REQ-FUNC-012 · REQ-FUNC-015</a:t>
            </a:r>
          </a:p>
        </p:txBody>
      </p:sp>
    </p:spTree>
    <p:extLst>
      <p:ext uri="{BB962C8B-B14F-4D97-AF65-F5344CB8AC3E}">
        <p14:creationId xmlns:p14="http://schemas.microsoft.com/office/powerpoint/2010/main" val="4226024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605A2-E6EC-5256-50F7-EB9A5CA6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23B6E3B-7627-C472-A74E-3F907159EEF8}"/>
              </a:ext>
            </a:extLst>
          </p:cNvPr>
          <p:cNvSpPr txBox="1"/>
          <p:nvPr/>
        </p:nvSpPr>
        <p:spPr>
          <a:xfrm>
            <a:off x="6096000" y="137000"/>
            <a:ext cx="5799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화면7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15F03A-FE81-6ED6-812B-3C0880C6A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327" y="1866900"/>
            <a:ext cx="11685345" cy="7153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000" y="9180000"/>
            <a:ext cx="15888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SCR-RVW-002 · 후기 작성·수정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9510000"/>
            <a:ext cx="1588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회원 1명당 행정동 1건만 작성한다. 본인이 쓴 후기만 수정·삭제할 수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9830000"/>
            <a:ext cx="15888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D8BF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REQ-FUNC-013 · REQ-FUNC-014</a:t>
            </a:r>
          </a:p>
        </p:txBody>
      </p:sp>
    </p:spTree>
    <p:extLst>
      <p:ext uri="{BB962C8B-B14F-4D97-AF65-F5344CB8AC3E}">
        <p14:creationId xmlns:p14="http://schemas.microsoft.com/office/powerpoint/2010/main" val="2208768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69305" y="122692"/>
            <a:ext cx="374939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0000" y="2400000"/>
            <a:ext cx="5888000" cy="1093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읽기</a:t>
            </a:r>
            <a:r>
              <a:rPr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전용은</a:t>
            </a:r>
            <a:r>
              <a:rPr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KV,</a:t>
            </a:r>
          </a:p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사용자가</a:t>
            </a:r>
            <a:r>
              <a:rPr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만드는</a:t>
            </a:r>
            <a:r>
              <a:rPr lang="ko-KR" alt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데이터는</a:t>
            </a:r>
            <a:r>
              <a:rPr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4600000"/>
            <a:ext cx="5888000" cy="3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547개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행정동의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지표·경계·점수는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배치가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통째로</a:t>
            </a:r>
            <a:endParaRPr sz="1500" b="0" dirty="0">
              <a:solidFill>
                <a:srgbClr val="6B6B6B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algn="l">
              <a:lnSpc>
                <a:spcPct val="135000"/>
              </a:lnSpc>
            </a:pP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교체하는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읽기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전용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번들이라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KV에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둡니다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</a:p>
          <a:p>
            <a:pPr algn="l">
              <a:lnSpc>
                <a:spcPct val="135000"/>
              </a:lnSpc>
            </a:pPr>
            <a:endParaRPr sz="1500" b="0" dirty="0">
              <a:solidFill>
                <a:srgbClr val="6B6B6B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algn="l">
              <a:lnSpc>
                <a:spcPct val="135000"/>
              </a:lnSpc>
            </a:pP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계정·후기처럼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제약조건과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조인이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필요한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데이터만</a:t>
            </a:r>
            <a:endParaRPr sz="1500" b="0" dirty="0">
              <a:solidFill>
                <a:srgbClr val="6B6B6B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algn="l">
              <a:lnSpc>
                <a:spcPct val="135000"/>
              </a:lnSpc>
            </a:pP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관계형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D1에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둡니다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</a:p>
          <a:p>
            <a:pPr algn="l">
              <a:lnSpc>
                <a:spcPct val="135000"/>
              </a:lnSpc>
            </a:pPr>
            <a:endParaRPr sz="1500" b="0" dirty="0">
              <a:solidFill>
                <a:srgbClr val="6B6B6B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algn="l">
              <a:lnSpc>
                <a:spcPct val="135000"/>
              </a:lnSpc>
            </a:pP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destinations→reviews는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UNIQUE라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사실상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1:1,</a:t>
            </a:r>
          </a:p>
          <a:p>
            <a:pPr algn="l">
              <a:lnSpc>
                <a:spcPct val="135000"/>
              </a:lnSpc>
            </a:pP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review_helpfuls가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reviews↔users를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M:N으로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5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잇습니다</a:t>
            </a:r>
            <a:r>
              <a:rPr sz="15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6FE0FF-C0C2-4F97-A22D-0A6A9C81F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19300"/>
            <a:ext cx="10439400" cy="7855685"/>
          </a:xfrm>
          <a:prstGeom prst="rect">
            <a:avLst/>
          </a:prstGeom>
        </p:spPr>
      </p:pic>
      <p:pic>
        <p:nvPicPr>
          <p:cNvPr id="8" name="그림 7" descr="Cloudflare Workers - 나무위키">
            <a:extLst>
              <a:ext uri="{FF2B5EF4-FFF2-40B4-BE49-F238E27FC236}">
                <a16:creationId xmlns:a16="http://schemas.microsoft.com/office/drawing/2014/main" id="{D3566D63-3116-5C6A-220B-F15148C6E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000" y="1115456"/>
            <a:ext cx="4150882" cy="10896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65306" y="424315"/>
            <a:ext cx="195738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00000" y="2650000"/>
          <a:ext cx="15888000" cy="5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285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Method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Path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설명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예외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85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9E5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GET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/api/data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지도 데이터 번들 조회 — 최초 진입 1회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500·503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85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9E5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GET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/api/geocode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목적지 주소·장소명 검색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404·500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85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GET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/api/auth/{provider}/callback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OAuth 콜백 — 세션 발급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400·500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285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88A1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POST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/api/regions/{code}/reviews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행정동 후기 작성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401·409 동당 1건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285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88A1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PATCH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/api/reviews/{id}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본인 후기 수정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401·403 타인 리소스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285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88A1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POST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/api/reviews/{id}/helpful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도움돼요 등록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401·409 중복 등록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00000" y="8700000"/>
            <a:ext cx="15888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데이터 1  ·  지오코딩 1  ·  인증 4  ·  후기 6   (총 12 operations)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69052" y="424315"/>
            <a:ext cx="39705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계획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200000" y="2200000"/>
            <a:ext cx="7694000" cy="69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0000" y="2540000"/>
            <a:ext cx="6854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A2A2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◐  의도적으로 축소한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0000" y="3250000"/>
            <a:ext cx="685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통근 페널티 Φ(t)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3650000"/>
            <a:ext cx="685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실제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서비스는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통근이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길수록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점수를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서서히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깎지만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,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이번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설계는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“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상한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넘으면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제외”라는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단순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필터로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sz="1300" b="0" dirty="0" err="1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정의했습니다</a:t>
            </a:r>
            <a:r>
              <a:rPr sz="1300" b="0" dirty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5150000"/>
            <a:ext cx="685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행정동 547 vs 556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5550000"/>
            <a:ext cx="685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이번 설계 범위(신분당선 축)와 실제 서비스(GTX-A 동탄 포함)의 차이입니다.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7050000"/>
            <a:ext cx="685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 신고·제재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7450000"/>
            <a:ext cx="685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운영 주체가 없는 설계라 이번엔 넣지 않았습니다.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4000" y="2200000"/>
            <a:ext cx="7694000" cy="69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000" y="2540000"/>
            <a:ext cx="6854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◑  다음 스프린트에 붙일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000" y="3250000"/>
            <a:ext cx="685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인증·후기 서버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000" y="3650000"/>
            <a:ext cx="685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SCR-AUTH-001 / RVW-001 / RVW-002는 설계가 끝났고, D1 스키마도 준비됐습니다.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000" y="5150000"/>
            <a:ext cx="685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지표 스냅샷 버전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000" y="5550000"/>
            <a:ext cx="685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지금은 최신 값 한 벌만 KV에 올립니다. 배포 이력 추적·롤백은 다음 단계입니다.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000" y="7050000"/>
            <a:ext cx="6854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주택유형별 월세 세분화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000" y="7450000"/>
            <a:ext cx="685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단독·다가구부터 아파트까지 나눠 보여주는 건 실제 서비스 기능이고,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이번 설계는 단일 지표로 단순화했습니다.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0000" y="9550000"/>
            <a:ext cx="15888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I Don't Know Seoul   ·   판교 7반 · P211 · 김기현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CA8DB-AD4D-3281-A993-7E837FD8BF46}"/>
              </a:ext>
            </a:extLst>
          </p:cNvPr>
          <p:cNvSpPr txBox="1"/>
          <p:nvPr/>
        </p:nvSpPr>
        <p:spPr>
          <a:xfrm>
            <a:off x="4563259" y="4020115"/>
            <a:ext cx="916148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0" dirty="0"/>
              <a:t>감사합니다</a:t>
            </a:r>
            <a:endParaRPr kumimoji="1" lang="ko-Kore-KR" altLang="en-US" sz="1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760</Words>
  <Application>Microsoft Macintosh PowerPoint</Application>
  <PresentationFormat>사용자 지정</PresentationFormat>
  <Paragraphs>144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IBM Plex Sans KR</vt:lpstr>
      <vt:lpstr>Canva Sans Bold</vt:lpstr>
      <vt:lpstr>Calibri</vt:lpstr>
      <vt:lpstr>210 나의동무</vt:lpstr>
      <vt:lpstr>Arial</vt:lpstr>
      <vt:lpstr>210 디딤명조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김기현</cp:lastModifiedBy>
  <cp:revision>5</cp:revision>
  <dcterms:created xsi:type="dcterms:W3CDTF">2006-08-16T00:00:00Z</dcterms:created>
  <dcterms:modified xsi:type="dcterms:W3CDTF">2026-09-16T10:00:13Z</dcterms:modified>
  <dc:identifier>DAHVVqN0XFY</dc:identifier>
</cp:coreProperties>
</file>